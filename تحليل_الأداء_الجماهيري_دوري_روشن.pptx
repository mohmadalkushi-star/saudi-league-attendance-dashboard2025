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-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الحضور</c:v>
                </c:pt>
              </c:strCache>
            </c:strRef>
          </c:tx>
          <c:spPr>
            <a:ln w="31750" cap="flat">
              <a:solidFill>
                <a:srgbClr val="0B3D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D2E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B3D2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الأولى</c:v>
                </c:pt>
                <c:pt idx="1">
                  <c:v>الثانية</c:v>
                </c:pt>
                <c:pt idx="2">
                  <c:v>الثالثة</c:v>
                </c:pt>
                <c:pt idx="3">
                  <c:v>الرابعة</c:v>
                </c:pt>
                <c:pt idx="4">
                  <c:v>الخامسة</c:v>
                </c:pt>
                <c:pt idx="5">
                  <c:v>السادسة</c:v>
                </c:pt>
                <c:pt idx="6">
                  <c:v>السابعة</c:v>
                </c:pt>
                <c:pt idx="7">
                  <c:v>الثامنة</c:v>
                </c:pt>
                <c:pt idx="8">
                  <c:v>التاسعة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</c:v>
                </c:pt>
                <c:pt idx="1">
                  <c:v>96</c:v>
                </c:pt>
                <c:pt idx="2">
                  <c:v>81</c:v>
                </c:pt>
                <c:pt idx="3">
                  <c:v>90</c:v>
                </c:pt>
                <c:pt idx="4">
                  <c:v>64</c:v>
                </c:pt>
                <c:pt idx="5">
                  <c:v>83</c:v>
                </c:pt>
                <c:pt idx="6">
                  <c:v>72</c:v>
                </c:pt>
                <c:pt idx="7">
                  <c:v>84</c:v>
                </c:pt>
                <c:pt idx="8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C1-45F4-9624-32D455206D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الحضور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32k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FA-4F8F-9732-D31E9D857CE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95k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FA-4F8F-9732-D31E9D857CE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98k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FA-4F8F-9732-D31E9D857CE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134k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FA-4F8F-9732-D31E9D857CE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199k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FA-4F8F-9732-D31E9D857CE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الفتح</c:v>
                </c:pt>
                <c:pt idx="1">
                  <c:v>النصر</c:v>
                </c:pt>
                <c:pt idx="2">
                  <c:v>الهلال</c:v>
                </c:pt>
                <c:pt idx="3">
                  <c:v>الاهلي</c:v>
                </c:pt>
                <c:pt idx="4">
                  <c:v>الاتحاد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31.8</c:v>
                </c:pt>
                <c:pt idx="1">
                  <c:v>95.3</c:v>
                </c:pt>
                <c:pt idx="2">
                  <c:v>97.8</c:v>
                </c:pt>
                <c:pt idx="3">
                  <c:v>133.80000000000001</c:v>
                </c:pt>
                <c:pt idx="4">
                  <c:v>199.7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A-4F8F-9732-D31E9D857C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B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الحضور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90-464F-9FA6-A7C995B61564}"/>
              </c:ext>
            </c:extLst>
          </c:dPt>
          <c:dPt>
            <c:idx val="1"/>
            <c:bubble3D val="0"/>
            <c:spPr>
              <a:solidFill>
                <a:srgbClr val="E9D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90-464F-9FA6-A7C995B61564}"/>
              </c:ext>
            </c:extLst>
          </c:dPt>
          <c:dLbls>
            <c:dLbl>
              <c:idx val="0"/>
              <c:numFmt formatCode="#,##0.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0-464F-9FA6-A7C995B61564}"/>
                </c:ext>
              </c:extLst>
            </c:dLbl>
            <c:dLbl>
              <c:idx val="1"/>
              <c:numFmt formatCode="#,##0.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0-464F-9FA6-A7C995B61564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مباراة قمة</c:v>
                </c:pt>
                <c:pt idx="1">
                  <c:v>مباراة عادية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197.1</c:v>
                </c:pt>
                <c:pt idx="1">
                  <c:v>558.29999999999995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90-464F-9FA6-A7C995B61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الحضور</c:v>
                </c:pt>
              </c:strCache>
            </c:strRef>
          </c:tx>
          <c:spPr>
            <a:solidFill>
              <a:srgbClr val="1354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الأربعاء</c:v>
                </c:pt>
                <c:pt idx="1">
                  <c:v>الثلاثاء</c:v>
                </c:pt>
                <c:pt idx="2">
                  <c:v>الاثنين</c:v>
                </c:pt>
                <c:pt idx="3">
                  <c:v>الأحد</c:v>
                </c:pt>
                <c:pt idx="4">
                  <c:v>الخميس</c:v>
                </c:pt>
                <c:pt idx="5">
                  <c:v>السبت</c:v>
                </c:pt>
                <c:pt idx="6">
                  <c:v>الجمعة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55</c:v>
                </c:pt>
                <c:pt idx="2">
                  <c:v>56</c:v>
                </c:pt>
                <c:pt idx="3">
                  <c:v>68</c:v>
                </c:pt>
                <c:pt idx="4">
                  <c:v>85</c:v>
                </c:pt>
                <c:pt idx="5">
                  <c:v>176</c:v>
                </c:pt>
                <c:pt idx="6">
                  <c:v>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F29-923D-0D717E8C10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B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الكفاءة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الاول بارك</c:v>
                </c:pt>
                <c:pt idx="1">
                  <c:v>الانماء</c:v>
                </c:pt>
                <c:pt idx="2">
                  <c:v>المملكة ارينا</c:v>
                </c:pt>
                <c:pt idx="3">
                  <c:v>نادي الفتح</c:v>
                </c:pt>
                <c:pt idx="4">
                  <c:v>الامير عبدالله الفيصل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21</c:v>
                </c:pt>
                <c:pt idx="2">
                  <c:v>19</c:v>
                </c:pt>
                <c:pt idx="3">
                  <c:v>14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2-4CDB-9E76-67497EC715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B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07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0698480" y="5074920"/>
            <a:ext cx="1737360" cy="17373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الربع الأول  •  2025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مشروع تحليل الأداء الجماهيري والتشغيلي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لدوري روشن السعودي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138160" y="3456432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377440" y="36576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5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البيانات الجماهيرية الخام إلى مرئيات واستراتيجيات تشغيلية ملموسة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223760" y="52120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452360" y="5330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ar-SA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اعداد : محمد الجهني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5715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محلل بيانات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الفوضى الرقمية إلى النمذجة الاحترافية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رحلة البيانات والتحديات الفنية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F3E7E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502920" cy="502920"/>
          </a:xfrm>
          <a:prstGeom prst="ellipse">
            <a:avLst/>
          </a:prstGeom>
          <a:solidFill>
            <a:srgbClr val="B4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629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 البيانات الخام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881360" y="2907792"/>
            <a:ext cx="146304" cy="146304"/>
          </a:xfrm>
          <a:prstGeom prst="ellipse">
            <a:avLst/>
          </a:prstGeom>
          <a:solidFill>
            <a:srgbClr val="B4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629400" y="2788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استلام ملفات تحتوي على تداخل كبير بين الأعمدة والسجلات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81360" y="3959352"/>
            <a:ext cx="146304" cy="146304"/>
          </a:xfrm>
          <a:prstGeom prst="ellipse">
            <a:avLst/>
          </a:prstGeom>
          <a:solidFill>
            <a:srgbClr val="B4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629400" y="3840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أخطاء لغوية متكررة في أسماء الملاعب والمدن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881360" y="5010912"/>
            <a:ext cx="146304" cy="146304"/>
          </a:xfrm>
          <a:prstGeom prst="ellipse">
            <a:avLst/>
          </a:prstGeom>
          <a:solidFill>
            <a:srgbClr val="B4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629400" y="4892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تكرار الحضور الجماهيري (Home / Away) الذي كاد يُضاعف الأرقام الحقيقية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141732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E4E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029200" y="16916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D488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2331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 عبر Power Query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8072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148072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توحيد لغوي دقيق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31729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تنظيف وتوحيد المسميات لضمان دقة الفلترة الجغرافية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48072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148072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روابط صحيحة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4224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شروط منطقية وفصل أعمدة متداخلة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48072" y="4983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148072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4937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بيانات مرن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68680" y="52760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Data Model يتجنب التكرار الحسابي بدقة مخرجات 100%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الربع الأول 2025  |  تحليل الأداء الجماهيري لدوري روشن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2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النبض الجماهيري لدوري روشن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الأداء الجماهيري — الربع الأول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الملاعب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9736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459736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9.33K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59736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الحضور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370832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70832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المنظمين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81928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281928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755K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81928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الحضور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93024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193024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93024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المباريات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04120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104120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10412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الجولات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240280"/>
            <a:ext cx="63093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731520" y="23134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تطور المنحنى الجماهيري عبر الجولات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85800" y="2624328"/>
          <a:ext cx="60350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4800600"/>
            <a:ext cx="6309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5"/>
          <p:cNvSpPr/>
          <p:nvPr/>
        </p:nvSpPr>
        <p:spPr>
          <a:xfrm>
            <a:off x="731520" y="48737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SA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حضور جماهير الاندية على ارضها</a:t>
            </a:r>
            <a:endParaRPr lang="en-US" sz="1300" dirty="0"/>
          </a:p>
        </p:txBody>
      </p:sp>
      <p:graphicFrame>
        <p:nvGraphicFramePr>
          <p:cNvPr id="29" name="Chart 1"/>
          <p:cNvGraphicFramePr/>
          <p:nvPr>
            <p:extLst>
              <p:ext uri="{D42A27DB-BD31-4B8C-83A1-F6EECF244321}">
                <p14:modId xmlns:p14="http://schemas.microsoft.com/office/powerpoint/2010/main" val="1476430260"/>
              </p:ext>
            </p:extLst>
          </p:nvPr>
        </p:nvGraphicFramePr>
        <p:xfrm>
          <a:off x="685800" y="5166360"/>
          <a:ext cx="60350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7086600" y="2240280"/>
            <a:ext cx="455371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7"/>
          <p:cNvSpPr/>
          <p:nvPr/>
        </p:nvSpPr>
        <p:spPr>
          <a:xfrm>
            <a:off x="7269480" y="231343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حضور مباريات القمة مقابل العادية</a:t>
            </a:r>
            <a:endParaRPr lang="en-US" sz="1250" dirty="0"/>
          </a:p>
        </p:txBody>
      </p:sp>
      <p:graphicFrame>
        <p:nvGraphicFramePr>
          <p:cNvPr id="32" name="Chart 2"/>
          <p:cNvGraphicFramePr/>
          <p:nvPr/>
        </p:nvGraphicFramePr>
        <p:xfrm>
          <a:off x="7269480" y="2624328"/>
          <a:ext cx="23317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Shape 28"/>
          <p:cNvSpPr/>
          <p:nvPr/>
        </p:nvSpPr>
        <p:spPr>
          <a:xfrm>
            <a:off x="9784080" y="2743200"/>
            <a:ext cx="201168" cy="201168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29"/>
          <p:cNvSpPr/>
          <p:nvPr/>
        </p:nvSpPr>
        <p:spPr>
          <a:xfrm>
            <a:off x="9784080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قمة (4 مباريات) — 197.1K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9784080" y="3657600"/>
            <a:ext cx="201168" cy="201168"/>
          </a:xfrm>
          <a:prstGeom prst="ellipse">
            <a:avLst/>
          </a:prstGeom>
          <a:solidFill>
            <a:srgbClr val="E9D48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1"/>
          <p:cNvSpPr/>
          <p:nvPr/>
        </p:nvSpPr>
        <p:spPr>
          <a:xfrm>
            <a:off x="97840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عادية (77 مباراة) — 558.3K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086600" y="4572000"/>
            <a:ext cx="455371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3"/>
          <p:cNvSpPr/>
          <p:nvPr/>
        </p:nvSpPr>
        <p:spPr>
          <a:xfrm>
            <a:off x="7269480" y="464515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الكثافة الجماهيرية بالمدن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7269480" y="5010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الحضور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8732520" y="50109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المباريات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10012680" y="501091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المدينة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7223760" y="5257800"/>
            <a:ext cx="4279392" cy="27432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38"/>
          <p:cNvSpPr/>
          <p:nvPr/>
        </p:nvSpPr>
        <p:spPr>
          <a:xfrm>
            <a:off x="7269480" y="5285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333,439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8732520" y="5285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10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10012680" y="5285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جدة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7269480" y="5577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210,475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8732520" y="5577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19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10012680" y="5577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الرياض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223760" y="5843016"/>
            <a:ext cx="4279392" cy="27432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0" name="Text 45"/>
          <p:cNvSpPr/>
          <p:nvPr/>
        </p:nvSpPr>
        <p:spPr>
          <a:xfrm>
            <a:off x="7269480" y="5870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67,659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8732520" y="5870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13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10012680" y="58704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الدمام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7269480" y="6163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64,016</a:t>
            </a:r>
            <a:endParaRPr lang="en-US" sz="1050" dirty="0"/>
          </a:p>
        </p:txBody>
      </p:sp>
      <p:sp>
        <p:nvSpPr>
          <p:cNvPr id="54" name="Text 49"/>
          <p:cNvSpPr/>
          <p:nvPr/>
        </p:nvSpPr>
        <p:spPr>
          <a:xfrm>
            <a:off x="8732520" y="6163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22"/>
                </a:solidFill>
              </a:rPr>
              <a:t>14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10012680" y="6163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بريدة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الربع الأول 2025  |  تحليل الأداء الجماهيري لدوري روشن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2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الكفاءة التنظيمية والأنماط الزمنية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 التشغيلي وسلوك الجماهير — الربع الأول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الملاعب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9736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459736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9.33K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59736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الحضور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370832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70832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المنظمين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81928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281928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755K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81928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الحضور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93024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193024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93024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المباريات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04120" y="1234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104120" y="1307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D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10412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الجولات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240280"/>
            <a:ext cx="64922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731520" y="23317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سلوك الجماهير أسبوعياً — عدد المشجعين لكل يوم</a:t>
            </a:r>
            <a:endParaRPr lang="en-US" sz="13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85800" y="2697480"/>
          <a:ext cx="62179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822960" y="525780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5"/>
          <p:cNvSpPr/>
          <p:nvPr/>
        </p:nvSpPr>
        <p:spPr>
          <a:xfrm>
            <a:off x="868680" y="52760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الجمعة والسبت: 485K مشجع — 64% من الحضور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269480" y="2240280"/>
            <a:ext cx="4370832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7452360" y="23317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المشجعين لكل منظّم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7452360" y="2587752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كفاءة المنظمين والطاقة التشغيلية</a:t>
            </a:r>
            <a:endParaRPr lang="en-US" sz="1000" dirty="0"/>
          </a:p>
        </p:txBody>
      </p:sp>
      <p:graphicFrame>
        <p:nvGraphicFramePr>
          <p:cNvPr id="32" name="Chart 1"/>
          <p:cNvGraphicFramePr/>
          <p:nvPr/>
        </p:nvGraphicFramePr>
        <p:xfrm>
          <a:off x="7406640" y="2926080"/>
          <a:ext cx="409651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 29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الربع الأول 2025  |  تحليل الأداء الجماهيري لدوري روشن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2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1475720" y="-502920"/>
            <a:ext cx="1463040" cy="146304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التوصيات وصناعة القرار الرياضي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المرئيات والتوصيات الاستراتيجية — الربع الأول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429000" cy="365760"/>
          </a:xfrm>
          <a:prstGeom prst="rect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1943100" y="18288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9431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استغلال ظاهرة جدة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مناطق مشجعين دائمة وتكثيف الفعاليات المصاحبة لتعظيم الإيرادات السياحية والتسويقية.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709160"/>
            <a:ext cx="2788920" cy="502920"/>
          </a:xfrm>
          <a:prstGeom prst="roundRect">
            <a:avLst>
              <a:gd name="adj" fmla="val 50909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ar-SA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مشجع</a:t>
            </a:r>
          </a:p>
          <a:p>
            <a:pPr marL="0" indent="0" algn="ctr">
              <a:buNone/>
            </a:pPr>
            <a:r>
              <a:rPr lang="ar-SA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10 مباريات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5087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206240" y="15087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8A6E1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206240" y="1920240"/>
            <a:ext cx="3429000" cy="365760"/>
          </a:xfrm>
          <a:prstGeom prst="rect">
            <a:avLst/>
          </a:prstGeom>
          <a:solidFill>
            <a:srgbClr val="8A6E1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600700" y="18288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6E1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6007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6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8A6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تنشيط جماهير الرياض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480560" y="3246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إطلاق حزم تسويقية وتذاكر عائلية مخفضة لرفع نسب الإشغال في ملاعب العاصمة.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4709160"/>
            <a:ext cx="2788920" cy="502920"/>
          </a:xfrm>
          <a:prstGeom prst="roundRect">
            <a:avLst>
              <a:gd name="adj" fmla="val 50909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526280" y="4709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6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 </a:t>
            </a:r>
            <a:r>
              <a:rPr lang="ar-SA" sz="1050" b="1" dirty="0">
                <a:solidFill>
                  <a:srgbClr val="8A6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مشجع</a:t>
            </a:r>
          </a:p>
          <a:p>
            <a:pPr marL="0" indent="0" algn="ctr">
              <a:buNone/>
            </a:pPr>
            <a:r>
              <a:rPr lang="ar-SA" sz="1050" b="1" dirty="0">
                <a:solidFill>
                  <a:srgbClr val="8A6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19 مباراة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15087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0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863840" y="15087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863840" y="1920240"/>
            <a:ext cx="3429000" cy="365760"/>
          </a:xfrm>
          <a:prstGeom prst="rect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9258300" y="18288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543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92583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92440" y="2651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نمذجة الكفاءة التنظيمية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138160" y="3246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اعتماد نموذج تشغيل ملعب الاول بارك كمعيار مرجعي لتقليل الهدر البشري وزيادة الانسيابية.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83880" y="4709160"/>
            <a:ext cx="2788920" cy="502920"/>
          </a:xfrm>
          <a:prstGeom prst="roundRect">
            <a:avLst>
              <a:gd name="adj" fmla="val 50909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183880" y="4709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مشجع لكل منظّم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الربع الأول 2025  |  تحليل الأداء الجماهيري لدوري روشن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2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354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3200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371600" y="288036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البيانات لا تصف الماضي فقط، بل ترسم طريق المستقبل 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لكم — الأسئلة والنقاش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محمد الجهني  |  محلل بيانات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398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خالد الجهني</cp:lastModifiedBy>
  <cp:revision>2</cp:revision>
  <dcterms:created xsi:type="dcterms:W3CDTF">2026-07-17T08:14:54Z</dcterms:created>
  <dcterms:modified xsi:type="dcterms:W3CDTF">2026-07-17T08:36:35Z</dcterms:modified>
</cp:coreProperties>
</file>